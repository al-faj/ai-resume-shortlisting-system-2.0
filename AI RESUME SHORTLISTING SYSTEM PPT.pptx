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rata" charset="1" panose="00000500000000000000"/>
      <p:regular r:id="rId21"/>
    </p:embeddedFont>
    <p:embeddedFont>
      <p:font typeface="Montserrat Bold" charset="1" panose="00000800000000000000"/>
      <p:regular r:id="rId22"/>
    </p:embeddedFont>
    <p:embeddedFont>
      <p:font typeface="Montserrat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jpe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2319135" y="4205176"/>
            <a:ext cx="13040423" cy="3410591"/>
            <a:chOff x="0" y="0"/>
            <a:chExt cx="2524921" cy="6603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648" y="0"/>
              <a:ext cx="2519624" cy="660368"/>
            </a:xfrm>
            <a:custGeom>
              <a:avLst/>
              <a:gdLst/>
              <a:ahLst/>
              <a:cxnLst/>
              <a:rect r="r" b="b" t="t" l="l"/>
              <a:pathLst>
                <a:path h="660368" w="2519624">
                  <a:moveTo>
                    <a:pt x="236686" y="0"/>
                  </a:moveTo>
                  <a:lnTo>
                    <a:pt x="2513127" y="0"/>
                  </a:lnTo>
                  <a:cubicBezTo>
                    <a:pt x="2515231" y="0"/>
                    <a:pt x="2517205" y="1019"/>
                    <a:pt x="2518424" y="2735"/>
                  </a:cubicBezTo>
                  <a:cubicBezTo>
                    <a:pt x="2519643" y="4450"/>
                    <a:pt x="2519955" y="6650"/>
                    <a:pt x="2519262" y="8637"/>
                  </a:cubicBezTo>
                  <a:lnTo>
                    <a:pt x="2295096" y="651731"/>
                  </a:lnTo>
                  <a:cubicBezTo>
                    <a:pt x="2293293" y="656903"/>
                    <a:pt x="2288416" y="660368"/>
                    <a:pt x="2282939" y="660368"/>
                  </a:cubicBezTo>
                  <a:lnTo>
                    <a:pt x="6498" y="660368"/>
                  </a:lnTo>
                  <a:cubicBezTo>
                    <a:pt x="4394" y="660368"/>
                    <a:pt x="2420" y="659349"/>
                    <a:pt x="1201" y="657633"/>
                  </a:cubicBezTo>
                  <a:cubicBezTo>
                    <a:pt x="-18" y="655917"/>
                    <a:pt x="-330" y="653718"/>
                    <a:pt x="363" y="651731"/>
                  </a:cubicBezTo>
                  <a:lnTo>
                    <a:pt x="224529" y="8637"/>
                  </a:lnTo>
                  <a:cubicBezTo>
                    <a:pt x="226332" y="3465"/>
                    <a:pt x="231209" y="0"/>
                    <a:pt x="236686" y="0"/>
                  </a:cubicBezTo>
                  <a:close/>
                </a:path>
              </a:pathLst>
            </a:custGeom>
            <a:solidFill>
              <a:srgbClr val="010F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0" y="-38100"/>
              <a:ext cx="2016921" cy="698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  <a:r>
                <a:rPr lang="en-US" sz="2222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1. GOURAV KUMAR</a:t>
              </a:r>
            </a:p>
            <a:p>
              <a:pPr algn="ctr">
                <a:lnSpc>
                  <a:spcPts val="3111"/>
                </a:lnSpc>
              </a:pPr>
              <a:r>
                <a:rPr lang="en-US" sz="2222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UNIVERSITY ROLL-NO : 10300224219</a:t>
              </a:r>
            </a:p>
            <a:p>
              <a:pPr algn="ctr">
                <a:lnSpc>
                  <a:spcPts val="3111"/>
                </a:lnSpc>
              </a:pPr>
              <a:r>
                <a:rPr lang="en-US" sz="2222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2. MD. ALFAJ HUSSAIN</a:t>
              </a:r>
            </a:p>
            <a:p>
              <a:pPr algn="ctr">
                <a:lnSpc>
                  <a:spcPts val="3111"/>
                </a:lnSpc>
              </a:pPr>
              <a:r>
                <a:rPr lang="en-US" sz="2222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UNIVERSITY ROLL-NO : 10300224224</a:t>
              </a:r>
            </a:p>
            <a:p>
              <a:pPr algn="ctr">
                <a:lnSpc>
                  <a:spcPts val="3111"/>
                </a:lnSpc>
              </a:pPr>
              <a:r>
                <a:rPr lang="en-US" sz="2222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3. KOUSHIK BARMAN</a:t>
              </a:r>
            </a:p>
            <a:p>
              <a:pPr algn="ctr">
                <a:lnSpc>
                  <a:spcPts val="3111"/>
                </a:lnSpc>
              </a:pPr>
              <a:r>
                <a:rPr lang="en-US" sz="2222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UNIVERSITY ROLL-NO : 10300224221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77504" y="2145631"/>
            <a:ext cx="14981025" cy="80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4"/>
              </a:lnSpc>
            </a:pPr>
            <a:r>
              <a:rPr lang="en-US" b="true" sz="5907" spc="21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RESUME SHORTLI</a:t>
            </a:r>
            <a:r>
              <a:rPr lang="en-US" b="true" sz="5907" spc="21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STING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35350"/>
            <a:ext cx="16230600" cy="106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4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Link: https://ai-resume-shortlisting-system-2-0.onrender.com/</a:t>
            </a:r>
          </a:p>
          <a:p>
            <a:pPr algn="ctr">
              <a:lnSpc>
                <a:spcPts val="427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42799" y="1764982"/>
            <a:ext cx="11002403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273" y="4216905"/>
            <a:ext cx="16973903" cy="193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6"/>
              </a:lnSpc>
            </a:pPr>
            <a:r>
              <a:rPr lang="en-US" sz="27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Resume shortlisting is a crucial part of recruitment. With thousands of applications per job role, manual screening becomes inefficient, error-prone, and time-consuming. This project uses Artificial Intelligence and Natural Language Processing to automate resume shortlisting and ranking based on job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12642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3233667"/>
            <a:ext cx="12698932" cy="5434863"/>
            <a:chOff x="0" y="0"/>
            <a:chExt cx="3975389" cy="17013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75389" cy="1701379"/>
            </a:xfrm>
            <a:custGeom>
              <a:avLst/>
              <a:gdLst/>
              <a:ahLst/>
              <a:cxnLst/>
              <a:rect r="r" b="b" t="t" l="l"/>
              <a:pathLst>
                <a:path h="1701379" w="3975389">
                  <a:moveTo>
                    <a:pt x="9754" y="0"/>
                  </a:moveTo>
                  <a:lnTo>
                    <a:pt x="3965634" y="0"/>
                  </a:lnTo>
                  <a:cubicBezTo>
                    <a:pt x="3968221" y="0"/>
                    <a:pt x="3970703" y="1028"/>
                    <a:pt x="3972532" y="2857"/>
                  </a:cubicBezTo>
                  <a:cubicBezTo>
                    <a:pt x="3974361" y="4686"/>
                    <a:pt x="3975389" y="7167"/>
                    <a:pt x="3975389" y="9754"/>
                  </a:cubicBezTo>
                  <a:lnTo>
                    <a:pt x="3975389" y="1691624"/>
                  </a:lnTo>
                  <a:cubicBezTo>
                    <a:pt x="3975389" y="1694211"/>
                    <a:pt x="3974361" y="1696692"/>
                    <a:pt x="3972532" y="1698522"/>
                  </a:cubicBezTo>
                  <a:cubicBezTo>
                    <a:pt x="3970703" y="1700351"/>
                    <a:pt x="3968221" y="1701379"/>
                    <a:pt x="3965634" y="1701379"/>
                  </a:cubicBezTo>
                  <a:lnTo>
                    <a:pt x="9754" y="1701379"/>
                  </a:lnTo>
                  <a:cubicBezTo>
                    <a:pt x="7167" y="1701379"/>
                    <a:pt x="4686" y="1700351"/>
                    <a:pt x="2857" y="1698522"/>
                  </a:cubicBezTo>
                  <a:cubicBezTo>
                    <a:pt x="1028" y="1696692"/>
                    <a:pt x="0" y="1694211"/>
                    <a:pt x="0" y="1691624"/>
                  </a:cubicBezTo>
                  <a:lnTo>
                    <a:pt x="0" y="9754"/>
                  </a:lnTo>
                  <a:cubicBezTo>
                    <a:pt x="0" y="7167"/>
                    <a:pt x="1028" y="4686"/>
                    <a:pt x="2857" y="2857"/>
                  </a:cubicBezTo>
                  <a:cubicBezTo>
                    <a:pt x="4686" y="1028"/>
                    <a:pt x="7167" y="0"/>
                    <a:pt x="9754" y="0"/>
                  </a:cubicBezTo>
                  <a:close/>
                </a:path>
              </a:pathLst>
            </a:custGeom>
            <a:solidFill>
              <a:srgbClr val="010F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975389" cy="1739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526464" y="572410"/>
            <a:ext cx="11002403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RESUME SHORTLISTING 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5538" y="3460747"/>
            <a:ext cx="11625256" cy="49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3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Resume shortlisting is the process of filtering job applications to identify the most suitable candidates for a specific role based on skills, experience, and qualifications.</a:t>
            </a:r>
          </a:p>
          <a:p>
            <a:pPr algn="l">
              <a:lnSpc>
                <a:spcPts val="4349"/>
              </a:lnSpc>
            </a:pPr>
          </a:p>
          <a:p>
            <a:pPr algn="l">
              <a:lnSpc>
                <a:spcPts val="4349"/>
              </a:lnSpc>
            </a:pPr>
            <a:r>
              <a:rPr lang="en-US" sz="3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Challenges:</a:t>
            </a:r>
          </a:p>
          <a:p>
            <a:pPr algn="l" marL="670777" indent="-335388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Time-consuming manual process</a:t>
            </a:r>
          </a:p>
          <a:p>
            <a:pPr algn="l" marL="670777" indent="-335388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Human bias and inconsistency</a:t>
            </a:r>
          </a:p>
          <a:p>
            <a:pPr algn="l" marL="670777" indent="-335388" lvl="1">
              <a:lnSpc>
                <a:spcPts val="4349"/>
              </a:lnSpc>
              <a:buFont typeface="Arial"/>
              <a:buChar char="•"/>
            </a:pPr>
            <a:r>
              <a:rPr lang="en-US" sz="3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chance of missing qualified candidates</a:t>
            </a:r>
          </a:p>
          <a:p>
            <a:pPr algn="ctr">
              <a:lnSpc>
                <a:spcPts val="4349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2430972" y="5395327"/>
            <a:ext cx="5525382" cy="2518756"/>
            <a:chOff x="0" y="0"/>
            <a:chExt cx="1186845" cy="5410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6845" cy="541026"/>
            </a:xfrm>
            <a:custGeom>
              <a:avLst/>
              <a:gdLst/>
              <a:ahLst/>
              <a:cxnLst/>
              <a:rect r="r" b="b" t="t" l="l"/>
              <a:pathLst>
                <a:path h="541026" w="1186845">
                  <a:moveTo>
                    <a:pt x="22418" y="0"/>
                  </a:moveTo>
                  <a:lnTo>
                    <a:pt x="1164426" y="0"/>
                  </a:lnTo>
                  <a:cubicBezTo>
                    <a:pt x="1176808" y="0"/>
                    <a:pt x="1186845" y="10037"/>
                    <a:pt x="1186845" y="22418"/>
                  </a:cubicBezTo>
                  <a:lnTo>
                    <a:pt x="1186845" y="518607"/>
                  </a:lnTo>
                  <a:cubicBezTo>
                    <a:pt x="1186845" y="524553"/>
                    <a:pt x="1184483" y="530255"/>
                    <a:pt x="1180279" y="534459"/>
                  </a:cubicBezTo>
                  <a:cubicBezTo>
                    <a:pt x="1176074" y="538664"/>
                    <a:pt x="1170372" y="541026"/>
                    <a:pt x="1164426" y="541026"/>
                  </a:cubicBezTo>
                  <a:lnTo>
                    <a:pt x="22418" y="541026"/>
                  </a:lnTo>
                  <a:cubicBezTo>
                    <a:pt x="10037" y="541026"/>
                    <a:pt x="0" y="530988"/>
                    <a:pt x="0" y="518607"/>
                  </a:cubicBezTo>
                  <a:lnTo>
                    <a:pt x="0" y="22418"/>
                  </a:lnTo>
                  <a:cubicBezTo>
                    <a:pt x="0" y="10037"/>
                    <a:pt x="10037" y="0"/>
                    <a:pt x="2241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0061" r="0" b="-2006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07657" y="6134354"/>
            <a:ext cx="902541" cy="9025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85423" y="6222776"/>
            <a:ext cx="902541" cy="9025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96540" y="4039952"/>
            <a:ext cx="902541" cy="9025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77803" y="4028416"/>
            <a:ext cx="902541" cy="9025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42799" y="734715"/>
            <a:ext cx="11002403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</a:t>
            </a: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 STATEMENT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872832" y="5132563"/>
            <a:ext cx="3386468" cy="33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b="true" sz="19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Delays in hiring process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3334357" y="4479686"/>
            <a:ext cx="3112318" cy="1796897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 flipV="true">
            <a:off x="11761783" y="4651731"/>
            <a:ext cx="3112318" cy="1796897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7667544" y="4504493"/>
            <a:ext cx="3110724" cy="1799655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21" id="21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07657" y="6324955"/>
            <a:ext cx="902541" cy="47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b="true" sz="2814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85423" y="6413377"/>
            <a:ext cx="902541" cy="47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b="true" sz="2814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96540" y="4230553"/>
            <a:ext cx="902541" cy="47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b="true" sz="2814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77803" y="4219017"/>
            <a:ext cx="902541" cy="47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b="true" sz="2814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5693" y="7202399"/>
            <a:ext cx="3386468" cy="101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b="true" sz="19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Recruiters must analyze hundreds or thousands of resumes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43460" y="7290822"/>
            <a:ext cx="3386468" cy="67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b="true" sz="19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Inconsistent evaluation criteria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54576" y="5107998"/>
            <a:ext cx="3386468" cy="67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b="true" sz="19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Human fatigue leads to errors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5942" y="2680990"/>
            <a:ext cx="9019332" cy="52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"/>
              </a:lnSpc>
              <a:spcBef>
                <a:spcPct val="0"/>
              </a:spcBef>
            </a:pPr>
            <a:r>
              <a:rPr lang="en-US" sz="3122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Manual resume screening is difficult because: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5942" y="8760217"/>
            <a:ext cx="14861738" cy="52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"/>
              </a:lnSpc>
              <a:spcBef>
                <a:spcPct val="0"/>
              </a:spcBef>
            </a:pPr>
            <a:r>
              <a:rPr lang="en-US" sz="3122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There is a need for an automated, fast, and unbiased resume screening system.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20191" y="4239701"/>
            <a:ext cx="3236284" cy="4062716"/>
            <a:chOff x="0" y="0"/>
            <a:chExt cx="852355" cy="10700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2355" cy="1070016"/>
            </a:xfrm>
            <a:custGeom>
              <a:avLst/>
              <a:gdLst/>
              <a:ahLst/>
              <a:cxnLst/>
              <a:rect r="r" b="b" t="t" l="l"/>
              <a:pathLst>
                <a:path h="1070016" w="852355">
                  <a:moveTo>
                    <a:pt x="47845" y="0"/>
                  </a:moveTo>
                  <a:lnTo>
                    <a:pt x="804510" y="0"/>
                  </a:lnTo>
                  <a:cubicBezTo>
                    <a:pt x="817199" y="0"/>
                    <a:pt x="829369" y="5041"/>
                    <a:pt x="838341" y="14013"/>
                  </a:cubicBezTo>
                  <a:cubicBezTo>
                    <a:pt x="847314" y="22986"/>
                    <a:pt x="852355" y="35155"/>
                    <a:pt x="852355" y="47845"/>
                  </a:cubicBezTo>
                  <a:lnTo>
                    <a:pt x="852355" y="1022171"/>
                  </a:lnTo>
                  <a:cubicBezTo>
                    <a:pt x="852355" y="1048595"/>
                    <a:pt x="830934" y="1070016"/>
                    <a:pt x="804510" y="1070016"/>
                  </a:cubicBezTo>
                  <a:lnTo>
                    <a:pt x="47845" y="1070016"/>
                  </a:lnTo>
                  <a:cubicBezTo>
                    <a:pt x="35155" y="1070016"/>
                    <a:pt x="22986" y="1064975"/>
                    <a:pt x="14013" y="1056003"/>
                  </a:cubicBezTo>
                  <a:cubicBezTo>
                    <a:pt x="5041" y="1047030"/>
                    <a:pt x="0" y="1034861"/>
                    <a:pt x="0" y="1022171"/>
                  </a:cubicBezTo>
                  <a:lnTo>
                    <a:pt x="0" y="47845"/>
                  </a:lnTo>
                  <a:cubicBezTo>
                    <a:pt x="0" y="35155"/>
                    <a:pt x="5041" y="22986"/>
                    <a:pt x="14013" y="14013"/>
                  </a:cubicBezTo>
                  <a:cubicBezTo>
                    <a:pt x="22986" y="5041"/>
                    <a:pt x="35155" y="0"/>
                    <a:pt x="478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52355" cy="1108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19105" y="4239701"/>
            <a:ext cx="3236284" cy="4062716"/>
            <a:chOff x="0" y="0"/>
            <a:chExt cx="852355" cy="1070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2355" cy="1070016"/>
            </a:xfrm>
            <a:custGeom>
              <a:avLst/>
              <a:gdLst/>
              <a:ahLst/>
              <a:cxnLst/>
              <a:rect r="r" b="b" t="t" l="l"/>
              <a:pathLst>
                <a:path h="1070016" w="852355">
                  <a:moveTo>
                    <a:pt x="47845" y="0"/>
                  </a:moveTo>
                  <a:lnTo>
                    <a:pt x="804510" y="0"/>
                  </a:lnTo>
                  <a:cubicBezTo>
                    <a:pt x="817199" y="0"/>
                    <a:pt x="829369" y="5041"/>
                    <a:pt x="838341" y="14013"/>
                  </a:cubicBezTo>
                  <a:cubicBezTo>
                    <a:pt x="847314" y="22986"/>
                    <a:pt x="852355" y="35155"/>
                    <a:pt x="852355" y="47845"/>
                  </a:cubicBezTo>
                  <a:lnTo>
                    <a:pt x="852355" y="1022171"/>
                  </a:lnTo>
                  <a:cubicBezTo>
                    <a:pt x="852355" y="1048595"/>
                    <a:pt x="830934" y="1070016"/>
                    <a:pt x="804510" y="1070016"/>
                  </a:cubicBezTo>
                  <a:lnTo>
                    <a:pt x="47845" y="1070016"/>
                  </a:lnTo>
                  <a:cubicBezTo>
                    <a:pt x="35155" y="1070016"/>
                    <a:pt x="22986" y="1064975"/>
                    <a:pt x="14013" y="1056003"/>
                  </a:cubicBezTo>
                  <a:cubicBezTo>
                    <a:pt x="5041" y="1047030"/>
                    <a:pt x="0" y="1034861"/>
                    <a:pt x="0" y="1022171"/>
                  </a:cubicBezTo>
                  <a:lnTo>
                    <a:pt x="0" y="47845"/>
                  </a:lnTo>
                  <a:cubicBezTo>
                    <a:pt x="0" y="35155"/>
                    <a:pt x="5041" y="22986"/>
                    <a:pt x="14013" y="14013"/>
                  </a:cubicBezTo>
                  <a:cubicBezTo>
                    <a:pt x="22986" y="5041"/>
                    <a:pt x="35155" y="0"/>
                    <a:pt x="478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52355" cy="1108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32611" y="4239701"/>
            <a:ext cx="3236284" cy="4062716"/>
            <a:chOff x="0" y="0"/>
            <a:chExt cx="852355" cy="1070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2355" cy="1070016"/>
            </a:xfrm>
            <a:custGeom>
              <a:avLst/>
              <a:gdLst/>
              <a:ahLst/>
              <a:cxnLst/>
              <a:rect r="r" b="b" t="t" l="l"/>
              <a:pathLst>
                <a:path h="1070016" w="852355">
                  <a:moveTo>
                    <a:pt x="47845" y="0"/>
                  </a:moveTo>
                  <a:lnTo>
                    <a:pt x="804510" y="0"/>
                  </a:lnTo>
                  <a:cubicBezTo>
                    <a:pt x="817199" y="0"/>
                    <a:pt x="829369" y="5041"/>
                    <a:pt x="838341" y="14013"/>
                  </a:cubicBezTo>
                  <a:cubicBezTo>
                    <a:pt x="847314" y="22986"/>
                    <a:pt x="852355" y="35155"/>
                    <a:pt x="852355" y="47845"/>
                  </a:cubicBezTo>
                  <a:lnTo>
                    <a:pt x="852355" y="1022171"/>
                  </a:lnTo>
                  <a:cubicBezTo>
                    <a:pt x="852355" y="1048595"/>
                    <a:pt x="830934" y="1070016"/>
                    <a:pt x="804510" y="1070016"/>
                  </a:cubicBezTo>
                  <a:lnTo>
                    <a:pt x="47845" y="1070016"/>
                  </a:lnTo>
                  <a:cubicBezTo>
                    <a:pt x="35155" y="1070016"/>
                    <a:pt x="22986" y="1064975"/>
                    <a:pt x="14013" y="1056003"/>
                  </a:cubicBezTo>
                  <a:cubicBezTo>
                    <a:pt x="5041" y="1047030"/>
                    <a:pt x="0" y="1034861"/>
                    <a:pt x="0" y="1022171"/>
                  </a:cubicBezTo>
                  <a:lnTo>
                    <a:pt x="0" y="47845"/>
                  </a:lnTo>
                  <a:cubicBezTo>
                    <a:pt x="0" y="35155"/>
                    <a:pt x="5041" y="22986"/>
                    <a:pt x="14013" y="14013"/>
                  </a:cubicBezTo>
                  <a:cubicBezTo>
                    <a:pt x="22986" y="5041"/>
                    <a:pt x="35155" y="0"/>
                    <a:pt x="47845" y="0"/>
                  </a:cubicBezTo>
                  <a:close/>
                </a:path>
              </a:pathLst>
            </a:custGeom>
            <a:solidFill>
              <a:srgbClr val="48699F">
                <a:alpha val="75686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52355" cy="1108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831525" y="4239701"/>
            <a:ext cx="3236284" cy="4062716"/>
            <a:chOff x="0" y="0"/>
            <a:chExt cx="852355" cy="1070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2355" cy="1070016"/>
            </a:xfrm>
            <a:custGeom>
              <a:avLst/>
              <a:gdLst/>
              <a:ahLst/>
              <a:cxnLst/>
              <a:rect r="r" b="b" t="t" l="l"/>
              <a:pathLst>
                <a:path h="1070016" w="852355">
                  <a:moveTo>
                    <a:pt x="47845" y="0"/>
                  </a:moveTo>
                  <a:lnTo>
                    <a:pt x="804510" y="0"/>
                  </a:lnTo>
                  <a:cubicBezTo>
                    <a:pt x="817199" y="0"/>
                    <a:pt x="829369" y="5041"/>
                    <a:pt x="838341" y="14013"/>
                  </a:cubicBezTo>
                  <a:cubicBezTo>
                    <a:pt x="847314" y="22986"/>
                    <a:pt x="852355" y="35155"/>
                    <a:pt x="852355" y="47845"/>
                  </a:cubicBezTo>
                  <a:lnTo>
                    <a:pt x="852355" y="1022171"/>
                  </a:lnTo>
                  <a:cubicBezTo>
                    <a:pt x="852355" y="1048595"/>
                    <a:pt x="830934" y="1070016"/>
                    <a:pt x="804510" y="1070016"/>
                  </a:cubicBezTo>
                  <a:lnTo>
                    <a:pt x="47845" y="1070016"/>
                  </a:lnTo>
                  <a:cubicBezTo>
                    <a:pt x="35155" y="1070016"/>
                    <a:pt x="22986" y="1064975"/>
                    <a:pt x="14013" y="1056003"/>
                  </a:cubicBezTo>
                  <a:cubicBezTo>
                    <a:pt x="5041" y="1047030"/>
                    <a:pt x="0" y="1034861"/>
                    <a:pt x="0" y="1022171"/>
                  </a:cubicBezTo>
                  <a:lnTo>
                    <a:pt x="0" y="47845"/>
                  </a:lnTo>
                  <a:cubicBezTo>
                    <a:pt x="0" y="35155"/>
                    <a:pt x="5041" y="22986"/>
                    <a:pt x="14013" y="14013"/>
                  </a:cubicBezTo>
                  <a:cubicBezTo>
                    <a:pt x="22986" y="5041"/>
                    <a:pt x="35155" y="0"/>
                    <a:pt x="47845" y="0"/>
                  </a:cubicBezTo>
                  <a:close/>
                </a:path>
              </a:pathLst>
            </a:custGeom>
            <a:solidFill>
              <a:srgbClr val="48699F">
                <a:alpha val="7568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52355" cy="1108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496233" y="4693622"/>
            <a:ext cx="882028" cy="890120"/>
          </a:xfrm>
          <a:custGeom>
            <a:avLst/>
            <a:gdLst/>
            <a:ahLst/>
            <a:cxnLst/>
            <a:rect r="r" b="b" t="t" l="l"/>
            <a:pathLst>
              <a:path h="890120" w="882028">
                <a:moveTo>
                  <a:pt x="0" y="0"/>
                </a:moveTo>
                <a:lnTo>
                  <a:pt x="882027" y="0"/>
                </a:lnTo>
                <a:lnTo>
                  <a:pt x="882027" y="890119"/>
                </a:lnTo>
                <a:lnTo>
                  <a:pt x="0" y="890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30585" y="4669444"/>
            <a:ext cx="638164" cy="938476"/>
          </a:xfrm>
          <a:custGeom>
            <a:avLst/>
            <a:gdLst/>
            <a:ahLst/>
            <a:cxnLst/>
            <a:rect r="r" b="b" t="t" l="l"/>
            <a:pathLst>
              <a:path h="938476" w="638164">
                <a:moveTo>
                  <a:pt x="0" y="0"/>
                </a:moveTo>
                <a:lnTo>
                  <a:pt x="638164" y="0"/>
                </a:lnTo>
                <a:lnTo>
                  <a:pt x="638164" y="938475"/>
                </a:lnTo>
                <a:lnTo>
                  <a:pt x="0" y="9384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833212" y="4693622"/>
            <a:ext cx="1106328" cy="890120"/>
          </a:xfrm>
          <a:custGeom>
            <a:avLst/>
            <a:gdLst/>
            <a:ahLst/>
            <a:cxnLst/>
            <a:rect r="r" b="b" t="t" l="l"/>
            <a:pathLst>
              <a:path h="890120" w="1106328">
                <a:moveTo>
                  <a:pt x="0" y="0"/>
                </a:moveTo>
                <a:lnTo>
                  <a:pt x="1106328" y="0"/>
                </a:lnTo>
                <a:lnTo>
                  <a:pt x="1106328" y="890119"/>
                </a:lnTo>
                <a:lnTo>
                  <a:pt x="0" y="8901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420021" y="4722282"/>
            <a:ext cx="835088" cy="832798"/>
          </a:xfrm>
          <a:custGeom>
            <a:avLst/>
            <a:gdLst/>
            <a:ahLst/>
            <a:cxnLst/>
            <a:rect r="r" b="b" t="t" l="l"/>
            <a:pathLst>
              <a:path h="832798" w="835088">
                <a:moveTo>
                  <a:pt x="0" y="0"/>
                </a:moveTo>
                <a:lnTo>
                  <a:pt x="835089" y="0"/>
                </a:lnTo>
                <a:lnTo>
                  <a:pt x="835089" y="832799"/>
                </a:lnTo>
                <a:lnTo>
                  <a:pt x="0" y="8327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619518" y="904875"/>
            <a:ext cx="1293850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AI IS USED?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20814" y="5816000"/>
            <a:ext cx="3033503" cy="205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7616" indent="-208808" lvl="1">
              <a:lnSpc>
                <a:spcPts val="2708"/>
              </a:lnSpc>
              <a:buFont typeface="Arial"/>
              <a:buChar char="•"/>
            </a:pPr>
            <a:r>
              <a:rPr lang="en-US" b="true" sz="1934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can process thousands of resumes in seconds</a:t>
            </a:r>
          </a:p>
          <a:p>
            <a:pPr algn="ctr">
              <a:lnSpc>
                <a:spcPts val="2708"/>
              </a:lnSpc>
            </a:pPr>
          </a:p>
          <a:p>
            <a:pPr algn="ctr" marL="417616" indent="-208808" lvl="1">
              <a:lnSpc>
                <a:spcPts val="2708"/>
              </a:lnSpc>
              <a:buFont typeface="Arial"/>
              <a:buChar char="•"/>
            </a:pPr>
            <a:r>
              <a:rPr lang="en-US" b="true" sz="1934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Eliminates human bias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80729" y="5816000"/>
            <a:ext cx="3011294" cy="67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b="true" sz="19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Improves accuracy and consistency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29325" y="5816000"/>
            <a:ext cx="3040685" cy="67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b="true" sz="19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Learns patterns from historical hiring data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397520" y="5905100"/>
            <a:ext cx="2929598" cy="68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7616" indent="-208808" lvl="1">
              <a:lnSpc>
                <a:spcPts val="2708"/>
              </a:lnSpc>
              <a:buFont typeface="Arial"/>
              <a:buChar char="•"/>
            </a:pPr>
            <a:r>
              <a:rPr lang="en-US" b="true" sz="1934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Scalable for large organizations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63849" y="450952"/>
            <a:ext cx="14012501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 OF THE PROJECT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74504" y="2307556"/>
            <a:ext cx="14791193" cy="592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0351" indent="-405176" lvl="1">
              <a:lnSpc>
                <a:spcPts val="5254"/>
              </a:lnSpc>
              <a:buFont typeface="Arial"/>
              <a:buChar char="•"/>
            </a:pPr>
            <a:r>
              <a:rPr lang="en-US" sz="3753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Build an automated resume shortlisting system</a:t>
            </a:r>
          </a:p>
          <a:p>
            <a:pPr algn="l">
              <a:lnSpc>
                <a:spcPts val="5254"/>
              </a:lnSpc>
            </a:pPr>
          </a:p>
          <a:p>
            <a:pPr algn="l" marL="810351" indent="-405176" lvl="1">
              <a:lnSpc>
                <a:spcPts val="5254"/>
              </a:lnSpc>
              <a:buFont typeface="Arial"/>
              <a:buChar char="•"/>
            </a:pPr>
            <a:r>
              <a:rPr lang="en-US" sz="3753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Categorize resumes based on job roles</a:t>
            </a:r>
          </a:p>
          <a:p>
            <a:pPr algn="l">
              <a:lnSpc>
                <a:spcPts val="5254"/>
              </a:lnSpc>
            </a:pPr>
          </a:p>
          <a:p>
            <a:pPr algn="l" marL="810351" indent="-405176" lvl="1">
              <a:lnSpc>
                <a:spcPts val="5254"/>
              </a:lnSpc>
              <a:buFont typeface="Arial"/>
              <a:buChar char="•"/>
            </a:pPr>
            <a:r>
              <a:rPr lang="en-US" sz="3753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Reduce HR manual effort</a:t>
            </a:r>
          </a:p>
          <a:p>
            <a:pPr algn="l">
              <a:lnSpc>
                <a:spcPts val="5254"/>
              </a:lnSpc>
            </a:pPr>
          </a:p>
          <a:p>
            <a:pPr algn="l" marL="810351" indent="-405176" lvl="1">
              <a:lnSpc>
                <a:spcPts val="5254"/>
              </a:lnSpc>
              <a:buFont typeface="Arial"/>
              <a:buChar char="•"/>
            </a:pPr>
            <a:r>
              <a:rPr lang="en-US" sz="3753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Provide fast and accurate shortlisting results</a:t>
            </a:r>
          </a:p>
          <a:p>
            <a:pPr algn="l">
              <a:lnSpc>
                <a:spcPts val="5254"/>
              </a:lnSpc>
            </a:pPr>
          </a:p>
          <a:p>
            <a:pPr algn="l" marL="810351" indent="-405176" lvl="1">
              <a:lnSpc>
                <a:spcPts val="5254"/>
              </a:lnSpc>
              <a:buFont typeface="Arial"/>
              <a:buChar char="•"/>
            </a:pPr>
            <a:r>
              <a:rPr lang="en-US" sz="3753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Deploy a real-time web application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4749" y="887668"/>
            <a:ext cx="1293850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 OF THE PROJECT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91257" y="3053819"/>
            <a:ext cx="9831521" cy="627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477" indent="-426239" lvl="1">
              <a:lnSpc>
                <a:spcPts val="5527"/>
              </a:lnSpc>
              <a:buFont typeface="Arial"/>
              <a:buChar char="•"/>
            </a:pPr>
            <a:r>
              <a:rPr lang="en-US" sz="3948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Resume upload in digital format</a:t>
            </a:r>
          </a:p>
          <a:p>
            <a:pPr algn="l">
              <a:lnSpc>
                <a:spcPts val="5527"/>
              </a:lnSpc>
            </a:pPr>
          </a:p>
          <a:p>
            <a:pPr algn="l" marL="852477" indent="-426239" lvl="1">
              <a:lnSpc>
                <a:spcPts val="5527"/>
              </a:lnSpc>
              <a:buFont typeface="Arial"/>
              <a:buChar char="•"/>
            </a:pPr>
            <a:r>
              <a:rPr lang="en-US" sz="3948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Text extraction and preprocessing</a:t>
            </a:r>
          </a:p>
          <a:p>
            <a:pPr algn="l">
              <a:lnSpc>
                <a:spcPts val="5527"/>
              </a:lnSpc>
            </a:pPr>
          </a:p>
          <a:p>
            <a:pPr algn="l" marL="852477" indent="-426239" lvl="1">
              <a:lnSpc>
                <a:spcPts val="5527"/>
              </a:lnSpc>
              <a:buFont typeface="Arial"/>
              <a:buChar char="•"/>
            </a:pPr>
            <a:r>
              <a:rPr lang="en-US" sz="3948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Resume classification using ML</a:t>
            </a:r>
          </a:p>
          <a:p>
            <a:pPr algn="l">
              <a:lnSpc>
                <a:spcPts val="5527"/>
              </a:lnSpc>
            </a:pPr>
          </a:p>
          <a:p>
            <a:pPr algn="l" marL="852477" indent="-426239" lvl="1">
              <a:lnSpc>
                <a:spcPts val="5527"/>
              </a:lnSpc>
              <a:buFont typeface="Arial"/>
              <a:buChar char="•"/>
            </a:pPr>
            <a:r>
              <a:rPr lang="en-US" sz="3948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Shortlisting based on relevance score</a:t>
            </a:r>
          </a:p>
          <a:p>
            <a:pPr algn="l">
              <a:lnSpc>
                <a:spcPts val="5527"/>
              </a:lnSpc>
            </a:pPr>
          </a:p>
          <a:p>
            <a:pPr algn="l" marL="852477" indent="-426239" lvl="1">
              <a:lnSpc>
                <a:spcPts val="5527"/>
              </a:lnSpc>
              <a:buFont typeface="Arial"/>
              <a:buChar char="•"/>
            </a:pPr>
            <a:r>
              <a:rPr lang="en-US" sz="3948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Web-based interface for HR users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4749" y="887668"/>
            <a:ext cx="1293850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TECHNOLOGIES USED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68698" y="2680807"/>
            <a:ext cx="12734448" cy="696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Programming Language: Python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Machine Learning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Web Framework: Flask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Frontend: HTML, CSS</a:t>
            </a:r>
          </a:p>
          <a:p>
            <a:pPr algn="l">
              <a:lnSpc>
                <a:spcPts val="5047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Deployment: Render</a:t>
            </a:r>
          </a:p>
          <a:p>
            <a:pPr algn="l">
              <a:lnSpc>
                <a:spcPts val="556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4749" y="439993"/>
            <a:ext cx="1293850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7239" y="2044756"/>
            <a:ext cx="15993077" cy="7213544"/>
          </a:xfrm>
          <a:custGeom>
            <a:avLst/>
            <a:gdLst/>
            <a:ahLst/>
            <a:cxnLst/>
            <a:rect r="r" b="b" t="t" l="l"/>
            <a:pathLst>
              <a:path h="7213544" w="15993077">
                <a:moveTo>
                  <a:pt x="0" y="0"/>
                </a:moveTo>
                <a:lnTo>
                  <a:pt x="15993077" y="0"/>
                </a:lnTo>
                <a:lnTo>
                  <a:pt x="15993077" y="7213544"/>
                </a:lnTo>
                <a:lnTo>
                  <a:pt x="0" y="7213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4749" y="222016"/>
            <a:ext cx="1293850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49639" y="4018770"/>
            <a:ext cx="12907661" cy="6268230"/>
          </a:xfrm>
          <a:custGeom>
            <a:avLst/>
            <a:gdLst/>
            <a:ahLst/>
            <a:cxnLst/>
            <a:rect r="r" b="b" t="t" l="l"/>
            <a:pathLst>
              <a:path h="6268230" w="12907661">
                <a:moveTo>
                  <a:pt x="0" y="0"/>
                </a:moveTo>
                <a:lnTo>
                  <a:pt x="12907661" y="0"/>
                </a:lnTo>
                <a:lnTo>
                  <a:pt x="12907661" y="6268230"/>
                </a:lnTo>
                <a:lnTo>
                  <a:pt x="0" y="62682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30589" y="1450106"/>
            <a:ext cx="12926711" cy="6545389"/>
          </a:xfrm>
          <a:custGeom>
            <a:avLst/>
            <a:gdLst/>
            <a:ahLst/>
            <a:cxnLst/>
            <a:rect r="r" b="b" t="t" l="l"/>
            <a:pathLst>
              <a:path h="6545389" w="12926711">
                <a:moveTo>
                  <a:pt x="0" y="0"/>
                </a:moveTo>
                <a:lnTo>
                  <a:pt x="12926711" y="0"/>
                </a:lnTo>
                <a:lnTo>
                  <a:pt x="12926711" y="6545388"/>
                </a:lnTo>
                <a:lnTo>
                  <a:pt x="0" y="6545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4749" y="887668"/>
            <a:ext cx="1293850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 OF THE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98841" y="2609036"/>
            <a:ext cx="12734448" cy="703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Resume t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ext screening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Automat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ed resume classification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Fast prediction results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User-friendly web interface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R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eal-time output</a:t>
            </a:r>
          </a:p>
          <a:p>
            <a:pPr algn="l">
              <a:lnSpc>
                <a:spcPts val="556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4749" y="887668"/>
            <a:ext cx="12938502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ADVANTAGES OF THE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53552" y="3421296"/>
            <a:ext cx="12734448" cy="703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Saves t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i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m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e for HR teams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Improves hiring efficiency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Reduce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s recruitment cost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El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iminates bias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Scalable and reliable</a:t>
            </a:r>
          </a:p>
          <a:p>
            <a:pPr algn="l">
              <a:lnSpc>
                <a:spcPts val="556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4749" y="761334"/>
            <a:ext cx="1293850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57125" y="3145100"/>
            <a:ext cx="12734448" cy="42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Depends on qual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ity of training data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Limit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ed to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 predefined job categories</a:t>
            </a:r>
          </a:p>
          <a:p>
            <a:pPr algn="l">
              <a:lnSpc>
                <a:spcPts val="5566"/>
              </a:lnSpc>
            </a:pPr>
          </a:p>
          <a:p>
            <a:pPr algn="l" marL="858382" indent="-429191" lvl="1">
              <a:lnSpc>
                <a:spcPts val="5566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A</a:t>
            </a:r>
            <a:r>
              <a:rPr lang="en-US" sz="397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ccuracy may vary with resume format</a:t>
            </a:r>
          </a:p>
          <a:p>
            <a:pPr algn="l">
              <a:lnSpc>
                <a:spcPts val="556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4749" y="761334"/>
            <a:ext cx="1293850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05979" y="3454931"/>
            <a:ext cx="14968123" cy="267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2"/>
              </a:lnSpc>
            </a:pPr>
            <a:r>
              <a:rPr lang="en-US" sz="3801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The AI Resume Shortlisting System successfully automates the resume screening process, making recruitment faster, smarter, and unbiased. It demonstrates the effective use of Machine Learning and NLP in real-world HR applications.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7632" y="5538868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72098" y="4036196"/>
            <a:ext cx="10807109" cy="1995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3"/>
              </a:lnSpc>
            </a:pPr>
            <a:r>
              <a:rPr lang="en-US" b="true" sz="1170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16335" y="-82396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DAHA0P9loyE</dc:identifier>
  <dcterms:modified xsi:type="dcterms:W3CDTF">2011-08-01T06:04:30Z</dcterms:modified>
  <cp:revision>1</cp:revision>
  <dc:title>Blue Futuristic Business Presentation</dc:title>
</cp:coreProperties>
</file>